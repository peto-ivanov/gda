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91" r:id="rId5"/>
    <p:sldId id="259" r:id="rId6"/>
    <p:sldId id="280" r:id="rId7"/>
    <p:sldId id="260" r:id="rId8"/>
    <p:sldId id="261" r:id="rId9"/>
    <p:sldId id="262" r:id="rId10"/>
    <p:sldId id="293" r:id="rId11"/>
    <p:sldId id="263" r:id="rId12"/>
    <p:sldId id="264" r:id="rId13"/>
    <p:sldId id="292" r:id="rId14"/>
    <p:sldId id="265" r:id="rId15"/>
    <p:sldId id="266" r:id="rId16"/>
  </p:sldIdLst>
  <p:sldSz cx="12192000" cy="6858000"/>
  <p:notesSz cx="6858000" cy="9144000"/>
  <p:defaultTextStyle>
    <a:defPPr>
      <a:defRPr lang="en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0F1252-ECD3-EA4F-BEEC-AEC3820ABA76}" v="30" dt="2025-02-24T11:51:05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3"/>
    <p:restoredTop sz="94687"/>
  </p:normalViewPr>
  <p:slideViewPr>
    <p:cSldViewPr snapToGrid="0">
      <p:cViewPr varScale="1">
        <p:scale>
          <a:sx n="188" d="100"/>
          <a:sy n="188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548C-5707-54B5-4E63-C8196E14C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50D85-7FF8-54A4-0EA3-F9D11FB66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10566-286D-B7AA-2B74-1D511E1E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F9038-476C-6E4E-9093-4DF90FB8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2327A-E923-7105-D002-1BB08DC8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77975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DDB5-5B15-7313-CB12-2AD6AB9D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B292E-F98D-3554-EB45-A8841A84E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7A18-D878-36BB-B0EA-D7D605B3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A2881-AC92-CDC4-8EAF-8CAA57B1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DC167-D5CE-399F-A4A7-0A303D7E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03698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9F1A-DD9D-923F-0A0E-98AAF935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1CD49-37CB-998F-8B5C-2E9F36866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DC2ED-1D5A-E7E5-33D7-BA5C4B82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1A53-1C9D-033B-BD47-0413FE69B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20B65-E7AC-08FE-70EF-960C3797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17790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2765-76E4-34FD-E60C-C365DD6C6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7561-0CC6-F9A7-727C-5285E0F7E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525C7-0887-4AA3-F016-26E233B93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78499-4E56-501D-1E3A-6439DFCF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D7C0B-2621-2DA1-98D0-85D28D60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12EA-4F7F-8C18-4C74-274FCD02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64649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9D83-9903-3C9C-8601-53BD752F5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3DE9-200B-5E0C-D8A1-63B343895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8989E-EB7A-DCE9-A312-C59EC301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DFAE2-01B2-0EBB-7A90-D8B405D81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34C3A-6093-9069-5EA6-0E22617F7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4B2DC-C913-AD2A-E4BC-D40C763E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42E1A-9907-5528-3E58-22C2CA8F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936CC-C2BE-0E20-1E6C-B9C09607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74486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2645-960A-3983-8FF3-41B74E2D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C3BA9-24A7-42C3-5F37-773B6693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373FE-C621-DE82-2B78-05BC6CE0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BD47D-3C21-773A-7D24-5EB2B02B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88339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B292E-B904-8838-AC9E-3A2D4620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B34BC-619C-E395-3163-ACE0F8FD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B3B7-8BAB-3408-5106-0AA53A2B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7711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26C2-C61A-F5B7-D2E1-BA82FB0F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47BE-2CA6-9142-22D8-C7654BC6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94189-0EE3-1F67-C017-754EF0366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DA12E-B18A-7106-BC3C-07EF4658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403F4-E733-DAC1-8334-90D6D0F6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27FC4-A50D-9035-66C6-75127458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98818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447A-8C93-8B0E-9507-D7EFF527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FE23F-FEA3-2E92-AE2F-277ABD51D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707BB-D3D3-18CE-04EF-3F599A30B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1723A-11B0-B45F-4FE4-3141F47E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40CF2-0916-B11C-B8FF-928F850A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930BE-9A19-404D-3109-966C6395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3608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0EE1-9C29-A54D-2C12-614BCC6C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9B106-EB27-C905-4E46-8C582CC6C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D3B71-71C2-D216-E0BE-064BC551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C2309-DE6C-A054-42D0-0D69AA04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337B3-8672-30C9-005F-CD73908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31925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5D24B-69A0-5AC2-9865-A203DF310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FA5FE-FF80-1000-C4CB-3426E8725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D49DB-4E77-D594-BA79-779BB449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CE633-1A04-9136-B46B-6DB17EBB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5B46B-DD7A-F4A8-E397-4DA3F4EB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22800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54DBB-171D-3D2E-D451-B8F6CBC3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09492-AE0A-4D15-9399-1149C1EC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3DAB2-3C74-71A6-12A0-9F833D869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F9FF7-A942-5A44-A0EA-959C81133B03}" type="datetimeFigureOut">
              <a:rPr lang="en-SK" smtClean="0"/>
              <a:t>26/03/2025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8956D-ECE0-37BA-07E1-F217F3F7B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B0CF-E30A-3184-CEFE-50AFC80AC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1228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to-ivanov/gda/blob/5d032ddbfc2e73c4f09690b388b94972d449e145/project/facemask_detector/final_project.ppt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devops.telekom.de/ichange/data-science/ner_elte/-/wikis/hom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CBE708-12F5-A1AA-C3B0-3E15E78AC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en-SK" sz="5200"/>
              <a:t>Showcasing Data Science Projects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504390-762F-D21F-1A0C-33394AF3D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en-GB" sz="1700" b="0" i="0" u="none" strike="noStrike" dirty="0">
                <a:effectLst/>
              </a:rPr>
              <a:t>A stroll through Face Mask Detection,</a:t>
            </a:r>
            <a:br>
              <a:rPr lang="en-GB" sz="1700" b="0" i="0" u="none" strike="noStrike" dirty="0">
                <a:effectLst/>
              </a:rPr>
            </a:br>
            <a:r>
              <a:rPr lang="en-GB" sz="1700" b="0" i="0" u="none" strike="noStrike" dirty="0">
                <a:effectLst/>
              </a:rPr>
              <a:t>Named Entity Recognition</a:t>
            </a:r>
            <a:r>
              <a:rPr lang="en-GB" sz="1700" dirty="0"/>
              <a:t> </a:t>
            </a:r>
            <a:r>
              <a:rPr lang="en-GB" sz="1700" b="0" i="0" u="none" strike="noStrike" dirty="0">
                <a:effectLst/>
              </a:rPr>
              <a:t>and </a:t>
            </a:r>
            <a:br>
              <a:rPr lang="en-GB" sz="1700" b="0" i="0" u="none" strike="noStrike" dirty="0">
                <a:effectLst/>
              </a:rPr>
            </a:br>
            <a:r>
              <a:rPr lang="en-GB" sz="1700" b="0" i="0" u="none" strike="noStrike" dirty="0">
                <a:effectLst/>
              </a:rPr>
              <a:t>Live Chatbot Development</a:t>
            </a:r>
          </a:p>
          <a:p>
            <a:r>
              <a:rPr lang="en-GB" sz="1700" dirty="0"/>
              <a:t>Presenter: Peter Ivanov</a:t>
            </a:r>
            <a:endParaRPr lang="en-GB" sz="1700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1988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B5DC1-1A47-85BA-FD22-6AEBAB91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609600"/>
            <a:ext cx="8548386" cy="1282459"/>
          </a:xfrm>
        </p:spPr>
        <p:txBody>
          <a:bodyPr>
            <a:normAutofit/>
          </a:bodyPr>
          <a:lstStyle/>
          <a:p>
            <a:r>
              <a:rPr lang="en-SK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4F380-EA97-A7A6-413D-7D403A681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47358"/>
            <a:ext cx="8548386" cy="4076394"/>
          </a:xfrm>
        </p:spPr>
        <p:txBody>
          <a:bodyPr>
            <a:normAutofit/>
          </a:bodyPr>
          <a:lstStyle/>
          <a:p>
            <a:r>
              <a:rPr lang="en-SK" sz="2000" b="1" dirty="0"/>
              <a:t>Who am I?</a:t>
            </a:r>
          </a:p>
          <a:p>
            <a:pPr lvl="1"/>
            <a:r>
              <a:rPr lang="en-SK" sz="1600" dirty="0"/>
              <a:t>IT guy, father, gamer, astronomer</a:t>
            </a:r>
          </a:p>
          <a:p>
            <a:r>
              <a:rPr lang="en-SK" sz="2000" b="1" dirty="0"/>
              <a:t>Purpose of the presentation</a:t>
            </a:r>
          </a:p>
          <a:p>
            <a:pPr lvl="1"/>
            <a:r>
              <a:rPr lang="en-SK" sz="1600" dirty="0"/>
              <a:t>Showcase few projects I worked on</a:t>
            </a:r>
          </a:p>
          <a:p>
            <a:r>
              <a:rPr lang="en-SK" sz="2000" b="1" dirty="0"/>
              <a:t>Agenda</a:t>
            </a:r>
            <a:endParaRPr lang="en-SK" sz="2000" dirty="0"/>
          </a:p>
          <a:p>
            <a:pPr lvl="1"/>
            <a:r>
              <a:rPr lang="en-SK" sz="1600" dirty="0"/>
              <a:t>Face Mask Detector (Image Classification)</a:t>
            </a:r>
          </a:p>
          <a:p>
            <a:pPr lvl="1"/>
            <a:r>
              <a:rPr lang="en-SK" sz="1600" dirty="0"/>
              <a:t>Named Entity Recognition (NLP)</a:t>
            </a:r>
          </a:p>
          <a:p>
            <a:pPr lvl="1"/>
            <a:r>
              <a:rPr lang="en-SK" sz="1600" dirty="0"/>
              <a:t>Chatbot Service with LLM Retrieval Augmented Generation (Live Demo)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8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12A1E-4F24-966D-3FCE-F3E127EB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Project 1 - Face Mask Detector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2E82-F7C8-3C2A-D418-8C5BF374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Objective:</a:t>
            </a: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Classify images into three categories: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Correct mask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Incorrect mask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No mask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Dataset: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4072 face images (Kaggle dataset)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Highly imbalanced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Preprocessing: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Face extraction, data augmentation and image resizing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4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1" name="Freeform: Shape 206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4D3B12-D9CA-4316-B827-E1A7CB0F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street.jpeg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3236CE2-418D-4F86-97AC-F02FA6ACEB49}"/>
              </a:ext>
            </a:extLst>
          </p:cNvPr>
          <p:cNvSpPr txBox="1">
            <a:spLocks/>
          </p:cNvSpPr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Found 14 face(s) in street.jpeg.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0: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2: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3: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4: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5: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6: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7: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8: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9: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10: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11: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12: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13: with mask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2C8D434-E221-48BD-B1F7-FA3A3DAAB13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3276" b="-2"/>
          <a:stretch/>
        </p:blipFill>
        <p:spPr bwMode="auto">
          <a:xfrm>
            <a:off x="5445457" y="1073887"/>
            <a:ext cx="6155141" cy="473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46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D1B70-5210-4145-6F08-F518AD0C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609600"/>
            <a:ext cx="8548386" cy="1282459"/>
          </a:xfrm>
        </p:spPr>
        <p:txBody>
          <a:bodyPr>
            <a:normAutofit/>
          </a:bodyPr>
          <a:lstStyle/>
          <a:p>
            <a:r>
              <a:rPr lang="en-GB" sz="4100"/>
              <a:t>Face Mask Detector - Model Architecture</a:t>
            </a:r>
            <a:endParaRPr lang="en-SK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9A7F-606D-7EA3-4BBD-53EC58F7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47358"/>
            <a:ext cx="8548386" cy="407639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effectLst/>
              </a:rPr>
              <a:t>CNN-based approach using VGG16</a:t>
            </a:r>
            <a:endParaRPr lang="en-GB" sz="2000" b="0" i="0" u="none" strike="noStrike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effectLst/>
              </a:rPr>
              <a:t>Modifications:</a:t>
            </a:r>
            <a:endParaRPr lang="en-GB" sz="2000" b="0" i="0" u="none" strike="noStrike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Pretrained VGG16 as feature extractor (untrainable layers)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Added max pooling, flatten, dense, and </a:t>
            </a:r>
            <a:r>
              <a:rPr lang="en-GB" sz="2000" b="0" i="0" u="none" strike="noStrike" dirty="0" err="1">
                <a:effectLst/>
              </a:rPr>
              <a:t>softmax</a:t>
            </a:r>
            <a:r>
              <a:rPr lang="en-GB" sz="2000" b="0" i="0" u="none" strike="noStrike" dirty="0">
                <a:effectLst/>
              </a:rPr>
              <a:t>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effectLst/>
              </a:rPr>
              <a:t>Training Details:</a:t>
            </a:r>
            <a:endParaRPr lang="en-GB" sz="2000" b="0" i="0" u="none" strike="noStrike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Optimizer: Adam (LR: 0.001)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Loss function: Categorical </a:t>
            </a:r>
            <a:r>
              <a:rPr lang="en-GB" sz="2000" b="0" i="0" u="none" strike="noStrike" dirty="0" err="1">
                <a:effectLst/>
              </a:rPr>
              <a:t>Crossentropy</a:t>
            </a:r>
            <a:endParaRPr lang="en-GB" sz="2000" b="0" i="0" u="none" strike="noStrike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10 epochs, batch size of 8</a:t>
            </a:r>
          </a:p>
          <a:p>
            <a:endParaRPr lang="en-SK" sz="20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2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39158A-8174-4961-B50F-5E92BEE4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Model setup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B3EB02-CE61-4AF4-B1D3-F68106A0DE8B}"/>
              </a:ext>
            </a:extLst>
          </p:cNvPr>
          <p:cNvSpPr txBox="1"/>
          <p:nvPr/>
        </p:nvSpPr>
        <p:spPr>
          <a:xfrm>
            <a:off x="733427" y="2194101"/>
            <a:ext cx="3543298" cy="3973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/>
              <a:t>The model base is the pretrained VGG16 CNN with the 'ImageNet' weights and all its layers but the densely connected classifier on top of the network.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/>
              <a:t>All the layers of the VGG16 are set to 'untrainable'.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/>
              <a:t>On top of that we add a max_pooling layer, a flattening layer, a dense layer and an output (dense) layer with 3 node and 'softmax' activation.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5D3E6E-9E40-922B-896D-C861D7652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9138" y="1261241"/>
            <a:ext cx="2828925" cy="4335518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C15B0E6-49FF-499B-BFDC-FBFE18C59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673211" y="2166592"/>
            <a:ext cx="2828925" cy="25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5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CC8B8-E8CA-E2EC-9112-117C54BE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Face Mask Detector - Results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1FEF-8CD6-2716-35E4-F9A23A01C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Accuracy on test data: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With mask: 97.35%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Incorrect wearing: 98.68%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Without mask: 97.50%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Challenges: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 imbalance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Overfitting on small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Possible Improvements: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More diverse real-world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Hyperparameter 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Alternative pre-trained models</a:t>
            </a:r>
          </a:p>
          <a:p>
            <a:pPr marL="285750" indent="-285750"/>
            <a:r>
              <a:rPr lang="en-GB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Full (technical) presentation:</a:t>
            </a:r>
          </a:p>
          <a:p>
            <a:pPr marL="742950" lvl="1" indent="-285750"/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linkClick r:id="rId2"/>
              </a:rPr>
              <a:t>final_project.pptx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978F8-DCE5-7F91-6BBB-912BECE04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Project 2 - Named Entity Recognition (NER)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0D3B-BC5F-0C49-863E-6FDAAB246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Objective:</a:t>
            </a: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Identify key entities (applications, systems, ITIL data) in domain-specific texts.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Why domain-specific NER?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General NER models lack industry-specific knowledge.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Fine-tuning improves accuracy and relevance.</a:t>
            </a:r>
          </a:p>
        </p:txBody>
      </p:sp>
    </p:spTree>
    <p:extLst>
      <p:ext uri="{BB962C8B-B14F-4D97-AF65-F5344CB8AC3E}">
        <p14:creationId xmlns:p14="http://schemas.microsoft.com/office/powerpoint/2010/main" val="225786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E6582-C98F-74A8-189C-4E57690B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NER - Model &amp; Implementation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9F4F7-212E-972D-CF85-7E7ACF35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Model Choice:</a:t>
            </a: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</a:t>
            </a:r>
            <a:r>
              <a:rPr lang="en-GB" sz="20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DistilBERT</a:t>
            </a: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(lighter, faster, and efficient version of 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Training Strategy: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Domain-specific fine-tuning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Custom entity </a:t>
            </a:r>
            <a:r>
              <a:rPr lang="en-GB" sz="20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labeling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Outcome: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Improved entity extraction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Faster search &amp; data indexing in company tools</a:t>
            </a:r>
          </a:p>
          <a:p>
            <a:pPr marL="285750" indent="-285750"/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Documentation (technical):</a:t>
            </a:r>
          </a:p>
          <a:p>
            <a:pPr marL="742950" lvl="1" indent="-285750"/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https://gitlab.devops.telekom.de/ichange/data-science/ner_elte/-/wikis/home</a:t>
            </a:r>
            <a:endParaRPr lang="en-GB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5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6872C-BA4F-4D3A-A35A-CD7183B6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SK" dirty="0"/>
              <a:t>NER Summary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1EE3F2-CBB5-16FB-C6CE-D5113DDD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dirty="0"/>
              <a:t>Most probable reasons for low human evaluation:</a:t>
            </a:r>
          </a:p>
          <a:p>
            <a:pPr lvl="1"/>
            <a:r>
              <a:rPr lang="en-US" sz="1600" dirty="0"/>
              <a:t>Undertrained model</a:t>
            </a:r>
          </a:p>
          <a:p>
            <a:pPr lvl="1"/>
            <a:r>
              <a:rPr lang="en-US" sz="1600" dirty="0"/>
              <a:t>Human-annotated train data </a:t>
            </a:r>
            <a:r>
              <a:rPr lang="en-US" sz="1600"/>
              <a:t>is crucial</a:t>
            </a:r>
            <a:endParaRPr lang="en-US" sz="160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FC76902-9674-9D54-338B-5D1A1B1395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214998"/>
              </p:ext>
            </p:extLst>
          </p:nvPr>
        </p:nvGraphicFramePr>
        <p:xfrm>
          <a:off x="5445457" y="1005355"/>
          <a:ext cx="6155142" cy="487103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29575">
                  <a:extLst>
                    <a:ext uri="{9D8B030D-6E8A-4147-A177-3AD203B41FA5}">
                      <a16:colId xmlns:a16="http://schemas.microsoft.com/office/drawing/2014/main" val="2122138401"/>
                    </a:ext>
                  </a:extLst>
                </a:gridCol>
                <a:gridCol w="1755266">
                  <a:extLst>
                    <a:ext uri="{9D8B030D-6E8A-4147-A177-3AD203B41FA5}">
                      <a16:colId xmlns:a16="http://schemas.microsoft.com/office/drawing/2014/main" val="4212478199"/>
                    </a:ext>
                  </a:extLst>
                </a:gridCol>
                <a:gridCol w="2070301">
                  <a:extLst>
                    <a:ext uri="{9D8B030D-6E8A-4147-A177-3AD203B41FA5}">
                      <a16:colId xmlns:a16="http://schemas.microsoft.com/office/drawing/2014/main" val="1489991930"/>
                    </a:ext>
                  </a:extLst>
                </a:gridCol>
              </a:tblGrid>
              <a:tr h="974207">
                <a:tc>
                  <a:txBody>
                    <a:bodyPr/>
                    <a:lstStyle/>
                    <a:p>
                      <a:r>
                        <a:rPr lang="en-SK" sz="1800" b="1" dirty="0">
                          <a:solidFill>
                            <a:srgbClr val="FFFFFF"/>
                          </a:solidFill>
                        </a:rPr>
                        <a:t>Metric (overall)</a:t>
                      </a:r>
                    </a:p>
                  </a:txBody>
                  <a:tcPr marL="401459" marR="240875" marT="240875" marB="24087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b="1">
                          <a:solidFill>
                            <a:srgbClr val="FFFFFF"/>
                          </a:solidFill>
                        </a:rPr>
                        <a:t>Human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139019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Precision</a:t>
                      </a:r>
                    </a:p>
                  </a:txBody>
                  <a:tcPr marL="401459" marR="240875" marT="240875" marB="24087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0.973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0.467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19237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Recall</a:t>
                      </a:r>
                    </a:p>
                  </a:txBody>
                  <a:tcPr marL="401459" marR="240875" marT="240875" marB="240875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0.949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0.101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960730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F1</a:t>
                      </a:r>
                    </a:p>
                  </a:txBody>
                  <a:tcPr marL="401459" marR="240875" marT="240875" marB="24087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0.961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0.167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47492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401459" marR="240875" marT="240875" marB="240875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0.999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0.944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096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37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EBFD9-D742-46BE-C0EA-20BBC217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NER - Business Impact Potential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EAEF-49D4-2AD8-2C06-FBA0C1936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Benefits: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Faster and more accurate keyword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Linking extracted entities to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Future Work: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Expanding the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Exploring LLM-based entity extraction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66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41B57-D443-D57C-435A-D1A04787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Project 3 – KAIA@Caesar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9EF7-F35D-102F-CEE1-B0987201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Objective:</a:t>
            </a: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Provide an interactive chatbot capable of answering domain-specific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Key Features: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RAG over ITIL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Hybrid search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Feedback system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Demo Time!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3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74F42-5350-8F45-60AE-B530E4C8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SK" dirty="0"/>
              <a:t>KAIA@Caesar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DEAA994-1E93-3109-94BE-943650AE3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dirty="0" err="1"/>
              <a:t>LangChain</a:t>
            </a:r>
            <a:r>
              <a:rPr lang="en-US" sz="2000" dirty="0"/>
              <a:t> LCEL Chain</a:t>
            </a:r>
          </a:p>
          <a:p>
            <a:pPr lvl="1"/>
            <a:r>
              <a:rPr lang="en-US" sz="1600" dirty="0"/>
              <a:t>employs parallel retrieval</a:t>
            </a:r>
          </a:p>
          <a:p>
            <a:r>
              <a:rPr lang="en-US" sz="2000" dirty="0"/>
              <a:t>Different search types</a:t>
            </a:r>
          </a:p>
          <a:p>
            <a:pPr lvl="1"/>
            <a:r>
              <a:rPr lang="en-US" sz="1600" dirty="0"/>
              <a:t>hybrid search</a:t>
            </a:r>
          </a:p>
          <a:p>
            <a:pPr lvl="1"/>
            <a:r>
              <a:rPr lang="en-US" sz="1600" dirty="0"/>
              <a:t>keyword search</a:t>
            </a:r>
          </a:p>
          <a:p>
            <a:pPr lvl="1"/>
            <a:r>
              <a:rPr lang="en-US" sz="1600" dirty="0"/>
              <a:t>filter query</a:t>
            </a:r>
          </a:p>
          <a:p>
            <a:r>
              <a:rPr lang="en-US" sz="2000" dirty="0"/>
              <a:t>Minimalistic prompt</a:t>
            </a:r>
          </a:p>
          <a:p>
            <a:pPr lvl="1"/>
            <a:r>
              <a:rPr lang="en-US" sz="1600" dirty="0"/>
              <a:t>gives freedom to the user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279A71-8475-9D0A-D30F-D0E2D2F8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317347"/>
            <a:ext cx="6155141" cy="42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5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F2254-0E9F-8693-7A38-EDCBAD3D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Live Chatbot - Demo &amp; Discussion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B0CB-C70C-E8B5-3EE2-DAA288DB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Live demonstration of KAIA in action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Key use cases and applications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Insight into ITIL data of interest</a:t>
            </a:r>
          </a:p>
          <a:p>
            <a:pPr lvl="1"/>
            <a:r>
              <a:rPr lang="en-GB" sz="200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Generation of excerpts, summaries, timelines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etc.</a:t>
            </a:r>
            <a:endParaRPr lang="en-GB" sz="200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Potential improvements and scalability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Enhancement with agentic approach</a:t>
            </a:r>
          </a:p>
          <a:p>
            <a:pPr lvl="1"/>
            <a:r>
              <a:rPr lang="en-GB" sz="200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Optimization in retrieval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Develop a RAG validation framework:</a:t>
            </a:r>
          </a:p>
          <a:p>
            <a:pPr lvl="2"/>
            <a:r>
              <a:rPr lang="en-GB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dataset, validation </a:t>
            </a:r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testing, CI pipeline</a:t>
            </a:r>
            <a:endParaRPr lang="en-GB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016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CDA4E-7428-8E08-A14F-9E9C8858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Q&amp;A &amp; Closing Remarks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292F4-50A4-9F41-AE62-C57B504D4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Summary of Projects:</a:t>
            </a:r>
            <a:endParaRPr lang="en-GB" sz="17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Face Mask Detection: Image Classification with CNNs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NER Model: Domain-Specific NLP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Live Chatbot: Real-Time AI Assistant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Next Steps:</a:t>
            </a:r>
          </a:p>
          <a:p>
            <a:pPr lvl="1"/>
            <a:r>
              <a:rPr lang="en-GB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Stabilisation and continuous improvements of KAIA in production</a:t>
            </a:r>
          </a:p>
          <a:p>
            <a:pPr lvl="1"/>
            <a:r>
              <a:rPr lang="en-GB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Exploring the SOTA (state-of-the-art) tech and methods</a:t>
            </a:r>
          </a:p>
          <a:p>
            <a:pPr lvl="1"/>
            <a:r>
              <a:rPr lang="en-GB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Exploring new 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Thank You!</a:t>
            </a:r>
            <a:endParaRPr lang="en-GB" sz="17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Questions?</a:t>
            </a:r>
            <a:endParaRPr lang="en-GB" sz="17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4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731</Words>
  <Application>Microsoft Macintosh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Showcasing Data Science Projects</vt:lpstr>
      <vt:lpstr>Introduction</vt:lpstr>
      <vt:lpstr>Project 1 - Face Mask Detector</vt:lpstr>
      <vt:lpstr>street.jpeg</vt:lpstr>
      <vt:lpstr>Face Mask Detector - Model Architecture</vt:lpstr>
      <vt:lpstr>Model setup</vt:lpstr>
      <vt:lpstr>Face Mask Detector - Results</vt:lpstr>
      <vt:lpstr>Project 2 - Named Entity Recognition (NER)</vt:lpstr>
      <vt:lpstr>NER - Model &amp; Implementation</vt:lpstr>
      <vt:lpstr>NER Summary</vt:lpstr>
      <vt:lpstr>NER - Business Impact Potential</vt:lpstr>
      <vt:lpstr>Project 3 – KAIA@Caesar</vt:lpstr>
      <vt:lpstr>KAIA@Caesar</vt:lpstr>
      <vt:lpstr>Live Chatbot - Demo &amp; Discussion</vt:lpstr>
      <vt:lpstr>Q&amp;A &amp; Closing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Ivanov, Peter</dc:creator>
  <cp:lastModifiedBy>Ivanov, Peter</cp:lastModifiedBy>
  <cp:revision>1</cp:revision>
  <dcterms:created xsi:type="dcterms:W3CDTF">2025-02-24T09:50:13Z</dcterms:created>
  <dcterms:modified xsi:type="dcterms:W3CDTF">2025-03-26T09:12:38Z</dcterms:modified>
</cp:coreProperties>
</file>